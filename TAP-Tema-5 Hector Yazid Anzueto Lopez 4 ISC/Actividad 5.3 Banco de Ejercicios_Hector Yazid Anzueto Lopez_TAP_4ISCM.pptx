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61" r:id="rId3"/>
    <p:sldId id="262" r:id="rId4"/>
    <p:sldId id="259" r:id="rId5"/>
    <p:sldId id="258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ctoranzueto4-byte/organizador_cita_medica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159976" y="1551354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Instituto Tecnológico de Frontera Comalapa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Modalidad Mixta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Materia: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Tópicos avanzados de programación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Semestre: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Cuarto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Carrera: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Numero de control: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241260005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alumno: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Hector</a:t>
            </a: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altLang="es-MX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Yazid</a:t>
            </a: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altLang="es-MX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Anzueto</a:t>
            </a: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altLang="es-MX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Lopez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docente: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Francisco Javier Mingo </a:t>
            </a:r>
            <a:r>
              <a:rPr lang="es-MX" altLang="es-MX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Velazquez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trabajo: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Actividad </a:t>
            </a:r>
            <a:r>
              <a:rPr lang="es-MX" altLang="es-MX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5.3 </a:t>
            </a: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banco de ejercicios  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Fecha de entrega:</a:t>
            </a:r>
            <a:endParaRPr lang="es-MX" altLang="es-MX" sz="900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Frontera Comalapa, Chiapas a </a:t>
            </a:r>
            <a:r>
              <a:rPr lang="es-MX" altLang="es-MX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14 </a:t>
            </a: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es-MX" altLang="es-MX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junio </a:t>
            </a:r>
            <a:r>
              <a:rPr lang="es-MX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2026</a:t>
            </a:r>
            <a:endParaRPr lang="es-MX" altLang="es-MX" sz="2000" dirty="0">
              <a:latin typeface="Arial" panose="020B0604020202020204" pitchFamily="34" charset="0"/>
            </a:endParaRPr>
          </a:p>
        </p:txBody>
      </p:sp>
      <p:pic>
        <p:nvPicPr>
          <p:cNvPr id="3" name="Imagen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4" t="17300" r="29520" b="65802"/>
          <a:stretch>
            <a:fillRect/>
          </a:stretch>
        </p:blipFill>
        <p:spPr bwMode="auto">
          <a:xfrm>
            <a:off x="1954395" y="78154"/>
            <a:ext cx="6507163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12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Google Sans"/>
              </a:rPr>
              <a:t>Introducción</a:t>
            </a:r>
            <a:endParaRPr lang="es-MX" b="1" dirty="0">
              <a:latin typeface="Google Sans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s-MX" b="1" dirty="0">
              <a:latin typeface="Google Sans"/>
            </a:endParaRPr>
          </a:p>
          <a:p>
            <a:pPr algn="just">
              <a:lnSpc>
                <a:spcPct val="150000"/>
              </a:lnSpc>
            </a:pPr>
            <a:r>
              <a:rPr lang="es-MX" dirty="0">
                <a:latin typeface="Google Sans"/>
              </a:rPr>
              <a:t>El desarrollo de aplicaciones móviles exige conectar interfaces de usuario fluidas con sistemas de almacenamiento de datos externos y robustos. Este banco de ejercicios prácticos se centra en la integración de </a:t>
            </a:r>
            <a:r>
              <a:rPr lang="es-MX" b="1" dirty="0" err="1">
                <a:latin typeface="Google Sans"/>
              </a:rPr>
              <a:t>Flutter</a:t>
            </a:r>
            <a:r>
              <a:rPr lang="es-MX" dirty="0">
                <a:latin typeface="Google Sans"/>
              </a:rPr>
              <a:t>, el </a:t>
            </a:r>
            <a:r>
              <a:rPr lang="es-MX" dirty="0" err="1">
                <a:latin typeface="Google Sans"/>
              </a:rPr>
              <a:t>framework</a:t>
            </a:r>
            <a:r>
              <a:rPr lang="es-MX" dirty="0">
                <a:latin typeface="Google Sans"/>
              </a:rPr>
              <a:t> de Google para despliegues multiplataforma, con </a:t>
            </a:r>
            <a:r>
              <a:rPr lang="es-MX" b="1" dirty="0" err="1">
                <a:latin typeface="Google Sans"/>
              </a:rPr>
              <a:t>PostgreSQL</a:t>
            </a:r>
            <a:r>
              <a:rPr lang="es-MX" dirty="0">
                <a:latin typeface="Google Sans"/>
              </a:rPr>
              <a:t>, un sistema de gestión de bases de datos relacionales de nivel empresarial. Los estudiantes aprenderán a estructurar aplicaciones móviles utilizando Visual Studio </a:t>
            </a:r>
            <a:r>
              <a:rPr lang="es-MX" dirty="0" err="1">
                <a:latin typeface="Google Sans"/>
              </a:rPr>
              <a:t>Code</a:t>
            </a:r>
            <a:r>
              <a:rPr lang="es-MX" dirty="0">
                <a:latin typeface="Google Sans"/>
              </a:rPr>
              <a:t> (VS </a:t>
            </a:r>
            <a:r>
              <a:rPr lang="es-MX" dirty="0" err="1">
                <a:latin typeface="Google Sans"/>
              </a:rPr>
              <a:t>Code</a:t>
            </a:r>
            <a:r>
              <a:rPr lang="es-MX" dirty="0">
                <a:latin typeface="Google Sans"/>
              </a:rPr>
              <a:t>) como entorno de desarrollo principal. A lo largo de las prácticas, se abordará desde el diseño de la interfaz gráfica hasta la implementación de servicios </a:t>
            </a:r>
            <a:r>
              <a:rPr lang="es-MX" dirty="0" err="1">
                <a:latin typeface="Google Sans"/>
              </a:rPr>
              <a:t>backend</a:t>
            </a:r>
            <a:r>
              <a:rPr lang="es-MX" dirty="0">
                <a:latin typeface="Google Sans"/>
              </a:rPr>
              <a:t> en </a:t>
            </a:r>
            <a:r>
              <a:rPr lang="es-MX" dirty="0" err="1">
                <a:latin typeface="Google Sans"/>
              </a:rPr>
              <a:t>Dart</a:t>
            </a:r>
            <a:r>
              <a:rPr lang="es-MX" dirty="0">
                <a:latin typeface="Google Sans"/>
              </a:rPr>
              <a:t> para lograr una comunicación síncrona y segura con el servidor de datos.</a:t>
            </a:r>
            <a:endParaRPr lang="es-MX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14831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Justificación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597881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La demanda laboral actual exige desarrolladores móviles capaces de crear soluciones completas que interactúen con ecosistemas de datos reales. Estudiar la combinación de </a:t>
            </a:r>
            <a:r>
              <a:rPr lang="es-MX" dirty="0" err="1"/>
              <a:t>Flutter</a:t>
            </a:r>
            <a:r>
              <a:rPr lang="es-MX" dirty="0"/>
              <a:t> y </a:t>
            </a:r>
            <a:r>
              <a:rPr lang="es-MX" dirty="0" err="1"/>
              <a:t>PostgreSQL</a:t>
            </a:r>
            <a:r>
              <a:rPr lang="es-MX" dirty="0"/>
              <a:t> es fundamental por tres razones clave:</a:t>
            </a:r>
          </a:p>
          <a:p>
            <a:pPr algn="just">
              <a:lnSpc>
                <a:spcPct val="150000"/>
              </a:lnSpc>
            </a:pPr>
            <a:r>
              <a:rPr lang="es-MX" b="1" dirty="0"/>
              <a:t>Eficiencia multiplataforma:</a:t>
            </a:r>
            <a:r>
              <a:rPr lang="es-MX" dirty="0"/>
              <a:t> </a:t>
            </a:r>
            <a:r>
              <a:rPr lang="es-MX" dirty="0" err="1"/>
              <a:t>Flutter</a:t>
            </a:r>
            <a:r>
              <a:rPr lang="es-MX" dirty="0"/>
              <a:t> permite compilar para Android e iOS usando un solo código base desde VS </a:t>
            </a:r>
            <a:r>
              <a:rPr lang="es-MX" dirty="0" err="1"/>
              <a:t>Code</a:t>
            </a:r>
            <a:r>
              <a:rPr lang="es-MX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s-MX" b="1" dirty="0"/>
              <a:t>Robustez de datos:</a:t>
            </a:r>
            <a:r>
              <a:rPr lang="es-MX" dirty="0"/>
              <a:t> </a:t>
            </a:r>
            <a:r>
              <a:rPr lang="es-MX" dirty="0" err="1"/>
              <a:t>PostgreSQL</a:t>
            </a:r>
            <a:r>
              <a:rPr lang="es-MX" dirty="0"/>
              <a:t> ofrece la seguridad y escalabilidad necesarias para manejar grandes volúmenes de información corporativa.</a:t>
            </a:r>
          </a:p>
          <a:p>
            <a:pPr algn="just">
              <a:lnSpc>
                <a:spcPct val="150000"/>
              </a:lnSpc>
            </a:pPr>
            <a:r>
              <a:rPr lang="es-MX" b="1" dirty="0"/>
              <a:t>Arquitectura profesional:</a:t>
            </a:r>
            <a:r>
              <a:rPr lang="es-MX" dirty="0"/>
              <a:t> Los ejercicios capacitan al alumno en el consumo de </a:t>
            </a:r>
            <a:r>
              <a:rPr lang="es-MX" dirty="0" err="1"/>
              <a:t>APIs</a:t>
            </a:r>
            <a:r>
              <a:rPr lang="es-MX" dirty="0"/>
              <a:t> y manejo de estados, replicando escenarios del entorno laboral real.</a:t>
            </a:r>
          </a:p>
        </p:txBody>
      </p:sp>
    </p:spTree>
    <p:extLst>
      <p:ext uri="{BB962C8B-B14F-4D97-AF65-F5344CB8AC3E}">
        <p14:creationId xmlns:p14="http://schemas.microsoft.com/office/powerpoint/2010/main" val="497343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54" y="683610"/>
            <a:ext cx="3679465" cy="206969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107" y="686083"/>
            <a:ext cx="3675069" cy="206722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62" y="2833681"/>
            <a:ext cx="4747207" cy="267030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961" y="3076854"/>
            <a:ext cx="4314899" cy="24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48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485900" y="3105835"/>
            <a:ext cx="7658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hlinkClick r:id="rId2"/>
              </a:rPr>
              <a:t>https://</a:t>
            </a:r>
            <a:r>
              <a:rPr lang="es-MX" dirty="0" smtClean="0">
                <a:hlinkClick r:id="rId2"/>
              </a:rPr>
              <a:t>github.com/hectoranzueto4-byte/organizador_cita_medica</a:t>
            </a:r>
            <a:r>
              <a:rPr lang="es-MX" dirty="0" smtClean="0"/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096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Conclusion</a:t>
            </a:r>
            <a:r>
              <a:rPr lang="es-MX" dirty="0" smtClean="0"/>
              <a:t>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MX" dirty="0"/>
              <a:t>La resolución de este banco de ejercicios consolida la habilidad de transformar aplicaciones móviles estáticas en herramientas dinámicas conectadas a entornos de producción. Al integrar </a:t>
            </a:r>
            <a:r>
              <a:rPr lang="es-MX" dirty="0" err="1"/>
              <a:t>Flutter</a:t>
            </a:r>
            <a:r>
              <a:rPr lang="es-MX" dirty="0"/>
              <a:t> con </a:t>
            </a:r>
            <a:r>
              <a:rPr lang="es-MX" dirty="0" err="1"/>
              <a:t>PostgreSQL</a:t>
            </a:r>
            <a:r>
              <a:rPr lang="es-MX" dirty="0"/>
              <a:t> utilizando Visual Studio </a:t>
            </a:r>
            <a:r>
              <a:rPr lang="es-MX" dirty="0" err="1"/>
              <a:t>Code</a:t>
            </a:r>
            <a:r>
              <a:rPr lang="es-MX" dirty="0"/>
              <a:t>, el estudiante no solo domina el diseño de interfaces modernas, sino que también asimila los flujos de comunicación asíncrona y la gestión de persistencia de datos remota. Esta competencia técnica es el pilar para el desarrollo de cualquier solución de software móvil profesional en la actualidad.</a:t>
            </a:r>
          </a:p>
        </p:txBody>
      </p:sp>
    </p:spTree>
    <p:extLst>
      <p:ext uri="{BB962C8B-B14F-4D97-AF65-F5344CB8AC3E}">
        <p14:creationId xmlns:p14="http://schemas.microsoft.com/office/powerpoint/2010/main" val="23334456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</TotalTime>
  <Words>368</Words>
  <Application>Microsoft Office PowerPoint</Application>
  <PresentationFormat>Panorámica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Google Sans</vt:lpstr>
      <vt:lpstr>Times New Roman</vt:lpstr>
      <vt:lpstr>Trebuchet MS</vt:lpstr>
      <vt:lpstr>Wingdings 3</vt:lpstr>
      <vt:lpstr>Faceta</vt:lpstr>
      <vt:lpstr>Presentación de PowerPoint</vt:lpstr>
      <vt:lpstr>Introducción</vt:lpstr>
      <vt:lpstr>Justificación </vt:lpstr>
      <vt:lpstr>Presentación de PowerPoint</vt:lpstr>
      <vt:lpstr>Presentación de PowerPoint</vt:lpstr>
      <vt:lpstr>Conclusion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 AMD</dc:creator>
  <cp:lastModifiedBy>HP AMD</cp:lastModifiedBy>
  <cp:revision>4</cp:revision>
  <dcterms:created xsi:type="dcterms:W3CDTF">2026-06-13T00:24:24Z</dcterms:created>
  <dcterms:modified xsi:type="dcterms:W3CDTF">2026-06-13T02:11:25Z</dcterms:modified>
</cp:coreProperties>
</file>