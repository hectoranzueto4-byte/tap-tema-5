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8" r:id="rId2"/>
    <p:sldId id="259" r:id="rId3"/>
    <p:sldId id="260" r:id="rId4"/>
    <p:sldId id="261" r:id="rId5"/>
    <p:sldId id="262" r:id="rId6"/>
    <p:sldId id="257"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0" d="100"/>
          <a:sy n="70" d="100"/>
        </p:scale>
        <p:origin x="1166" y="4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42A54C80-263E-416B-A8E0-580EDEADCBDC}"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6/12/2026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2952531" y="1571603"/>
            <a:ext cx="6096000" cy="5078313"/>
          </a:xfrm>
          <a:prstGeom prst="rect">
            <a:avLst/>
          </a:prstGeom>
        </p:spPr>
        <p:txBody>
          <a:bodyPr>
            <a:spAutoFit/>
          </a:bodyPr>
          <a:lstStyle/>
          <a:p>
            <a:pPr lvl="0" algn="ctr" defTabSz="914400" eaLnBrk="0" fontAlgn="base" hangingPunct="0">
              <a:spcBef>
                <a:spcPct val="0"/>
              </a:spcBef>
              <a:spcAft>
                <a:spcPct val="0"/>
              </a:spcAft>
            </a:pPr>
            <a:r>
              <a:rPr lang="es-MX" altLang="es-MX" b="1" dirty="0">
                <a:latin typeface="Arial" panose="020B0604020202020204" pitchFamily="34" charset="0"/>
                <a:ea typeface="Times New Roman" panose="02020603050405020304" pitchFamily="18" charset="0"/>
                <a:cs typeface="Arial" panose="020B0604020202020204" pitchFamily="34" charset="0"/>
              </a:rPr>
              <a:t>Instituto Tecnológico de Frontera Comalapa</a:t>
            </a:r>
            <a:endParaRPr lang="es-MX" altLang="es-MX" sz="900" dirty="0"/>
          </a:p>
          <a:p>
            <a:pPr lvl="0" algn="ctr" defTabSz="914400" eaLnBrk="0" fontAlgn="base" hangingPunct="0">
              <a:spcBef>
                <a:spcPct val="0"/>
              </a:spcBef>
              <a:spcAft>
                <a:spcPct val="0"/>
              </a:spcAft>
            </a:pPr>
            <a:r>
              <a:rPr lang="es-MX" altLang="es-MX" b="1" dirty="0">
                <a:latin typeface="Arial" panose="020B0604020202020204" pitchFamily="34" charset="0"/>
                <a:ea typeface="Times New Roman" panose="02020603050405020304" pitchFamily="18" charset="0"/>
                <a:cs typeface="Arial" panose="020B0604020202020204" pitchFamily="34" charset="0"/>
              </a:rPr>
              <a:t>Modalidad Mixta</a:t>
            </a:r>
            <a:endParaRPr lang="es-MX" altLang="es-MX" sz="900" dirty="0"/>
          </a:p>
          <a:p>
            <a:pPr lvl="0" algn="ctr" defTabSz="914400" eaLnBrk="0" fontAlgn="base" hangingPunct="0">
              <a:spcBef>
                <a:spcPct val="0"/>
              </a:spcBef>
              <a:spcAft>
                <a:spcPct val="0"/>
              </a:spcAft>
            </a:pPr>
            <a:r>
              <a:rPr lang="es-MX" altLang="es-MX" b="1" dirty="0">
                <a:latin typeface="Arial" panose="020B0604020202020204" pitchFamily="34" charset="0"/>
                <a:ea typeface="Times New Roman" panose="02020603050405020304" pitchFamily="18" charset="0"/>
                <a:cs typeface="Arial" panose="020B0604020202020204" pitchFamily="34" charset="0"/>
              </a:rPr>
              <a:t>Materia:</a:t>
            </a:r>
            <a:endParaRPr lang="es-MX" altLang="es-MX" sz="900" dirty="0"/>
          </a:p>
          <a:p>
            <a:pPr lvl="0" algn="ctr" defTabSz="914400" eaLnBrk="0" fontAlgn="base" hangingPunct="0">
              <a:spcBef>
                <a:spcPct val="0"/>
              </a:spcBef>
              <a:spcAft>
                <a:spcPct val="0"/>
              </a:spcAft>
            </a:pPr>
            <a:r>
              <a:rPr lang="es-MX" altLang="es-MX" dirty="0">
                <a:latin typeface="Arial" panose="020B0604020202020204" pitchFamily="34" charset="0"/>
                <a:ea typeface="Times New Roman" panose="02020603050405020304" pitchFamily="18" charset="0"/>
                <a:cs typeface="Arial" panose="020B0604020202020204" pitchFamily="34" charset="0"/>
              </a:rPr>
              <a:t>Tópicos avanzados de programación</a:t>
            </a:r>
            <a:endParaRPr lang="es-MX" altLang="es-MX" sz="900" dirty="0"/>
          </a:p>
          <a:p>
            <a:pPr lvl="0" algn="ctr" defTabSz="914400" eaLnBrk="0" fontAlgn="base" hangingPunct="0">
              <a:spcBef>
                <a:spcPct val="0"/>
              </a:spcBef>
              <a:spcAft>
                <a:spcPct val="0"/>
              </a:spcAft>
            </a:pPr>
            <a:r>
              <a:rPr lang="es-MX" altLang="es-MX" b="1" dirty="0">
                <a:latin typeface="Arial" panose="020B0604020202020204" pitchFamily="34" charset="0"/>
                <a:ea typeface="Times New Roman" panose="02020603050405020304" pitchFamily="18" charset="0"/>
                <a:cs typeface="Arial" panose="020B0604020202020204" pitchFamily="34" charset="0"/>
              </a:rPr>
              <a:t>Semestre:</a:t>
            </a:r>
            <a:endParaRPr lang="es-MX" altLang="es-MX" sz="900" dirty="0"/>
          </a:p>
          <a:p>
            <a:pPr lvl="0" algn="ctr" defTabSz="914400" eaLnBrk="0" fontAlgn="base" hangingPunct="0">
              <a:spcBef>
                <a:spcPct val="0"/>
              </a:spcBef>
              <a:spcAft>
                <a:spcPct val="0"/>
              </a:spcAft>
            </a:pPr>
            <a:r>
              <a:rPr lang="es-MX" altLang="es-MX" dirty="0">
                <a:latin typeface="Arial" panose="020B0604020202020204" pitchFamily="34" charset="0"/>
                <a:ea typeface="Times New Roman" panose="02020603050405020304" pitchFamily="18" charset="0"/>
                <a:cs typeface="Arial" panose="020B0604020202020204" pitchFamily="34" charset="0"/>
              </a:rPr>
              <a:t>Cuarto</a:t>
            </a:r>
            <a:endParaRPr lang="es-MX" altLang="es-MX" sz="900" dirty="0"/>
          </a:p>
          <a:p>
            <a:pPr lvl="0" algn="ctr" defTabSz="914400" eaLnBrk="0" fontAlgn="base" hangingPunct="0">
              <a:spcBef>
                <a:spcPct val="0"/>
              </a:spcBef>
              <a:spcAft>
                <a:spcPct val="0"/>
              </a:spcAft>
            </a:pPr>
            <a:r>
              <a:rPr lang="es-MX" altLang="es-MX" b="1" dirty="0">
                <a:latin typeface="Arial" panose="020B0604020202020204" pitchFamily="34" charset="0"/>
                <a:ea typeface="Times New Roman" panose="02020603050405020304" pitchFamily="18" charset="0"/>
                <a:cs typeface="Arial" panose="020B0604020202020204" pitchFamily="34" charset="0"/>
              </a:rPr>
              <a:t>Carrera:</a:t>
            </a:r>
            <a:endParaRPr lang="es-MX" altLang="es-MX" sz="900" dirty="0"/>
          </a:p>
          <a:p>
            <a:pPr lvl="0" algn="ctr" defTabSz="914400" eaLnBrk="0" fontAlgn="base" hangingPunct="0">
              <a:spcBef>
                <a:spcPct val="0"/>
              </a:spcBef>
              <a:spcAft>
                <a:spcPct val="0"/>
              </a:spcAft>
            </a:pPr>
            <a:r>
              <a:rPr lang="es-MX" altLang="es-MX" dirty="0">
                <a:latin typeface="Arial" panose="020B0604020202020204" pitchFamily="34" charset="0"/>
                <a:ea typeface="Times New Roman" panose="02020603050405020304" pitchFamily="18" charset="0"/>
                <a:cs typeface="Arial" panose="020B0604020202020204" pitchFamily="34" charset="0"/>
              </a:rPr>
              <a:t>Ingeniería en sistemas computacionales</a:t>
            </a:r>
            <a:endParaRPr lang="es-MX" altLang="es-MX" sz="900" dirty="0"/>
          </a:p>
          <a:p>
            <a:pPr lvl="0" algn="ctr" defTabSz="914400" eaLnBrk="0" fontAlgn="base" hangingPunct="0">
              <a:spcBef>
                <a:spcPct val="0"/>
              </a:spcBef>
              <a:spcAft>
                <a:spcPct val="0"/>
              </a:spcAft>
            </a:pPr>
            <a:r>
              <a:rPr lang="es-MX" altLang="es-MX" b="1" dirty="0">
                <a:latin typeface="Arial" panose="020B0604020202020204" pitchFamily="34" charset="0"/>
                <a:ea typeface="Times New Roman" panose="02020603050405020304" pitchFamily="18" charset="0"/>
                <a:cs typeface="Arial" panose="020B0604020202020204" pitchFamily="34" charset="0"/>
              </a:rPr>
              <a:t>Numero de control:</a:t>
            </a:r>
            <a:endParaRPr lang="es-MX" altLang="es-MX" sz="900" dirty="0"/>
          </a:p>
          <a:p>
            <a:pPr lvl="0" algn="ctr" defTabSz="914400" eaLnBrk="0" fontAlgn="base" hangingPunct="0">
              <a:spcBef>
                <a:spcPct val="0"/>
              </a:spcBef>
              <a:spcAft>
                <a:spcPct val="0"/>
              </a:spcAft>
            </a:pPr>
            <a:r>
              <a:rPr lang="es-MX" altLang="es-MX" dirty="0">
                <a:latin typeface="Arial" panose="020B0604020202020204" pitchFamily="34" charset="0"/>
                <a:ea typeface="Times New Roman" panose="02020603050405020304" pitchFamily="18" charset="0"/>
                <a:cs typeface="Arial" panose="020B0604020202020204" pitchFamily="34" charset="0"/>
              </a:rPr>
              <a:t>241260005</a:t>
            </a:r>
            <a:endParaRPr lang="es-MX" altLang="es-MX" sz="900" dirty="0"/>
          </a:p>
          <a:p>
            <a:pPr lvl="0" algn="ctr" defTabSz="914400" eaLnBrk="0" fontAlgn="base" hangingPunct="0">
              <a:spcBef>
                <a:spcPct val="0"/>
              </a:spcBef>
              <a:spcAft>
                <a:spcPct val="0"/>
              </a:spcAft>
            </a:pPr>
            <a:r>
              <a:rPr lang="es-MX" altLang="es-MX" b="1" dirty="0">
                <a:latin typeface="Arial" panose="020B0604020202020204" pitchFamily="34" charset="0"/>
                <a:ea typeface="Times New Roman" panose="02020603050405020304" pitchFamily="18" charset="0"/>
                <a:cs typeface="Arial" panose="020B0604020202020204" pitchFamily="34" charset="0"/>
              </a:rPr>
              <a:t>Nombre del alumno:</a:t>
            </a:r>
            <a:endParaRPr lang="es-MX" altLang="es-MX" sz="900" dirty="0"/>
          </a:p>
          <a:p>
            <a:pPr lvl="0" algn="ctr" defTabSz="914400" eaLnBrk="0" fontAlgn="base" hangingPunct="0">
              <a:spcBef>
                <a:spcPct val="0"/>
              </a:spcBef>
              <a:spcAft>
                <a:spcPct val="0"/>
              </a:spcAft>
            </a:pPr>
            <a:r>
              <a:rPr lang="es-MX" altLang="es-MX" dirty="0" err="1">
                <a:latin typeface="Arial" panose="020B0604020202020204" pitchFamily="34" charset="0"/>
                <a:ea typeface="Times New Roman" panose="02020603050405020304" pitchFamily="18" charset="0"/>
                <a:cs typeface="Arial" panose="020B0604020202020204" pitchFamily="34" charset="0"/>
              </a:rPr>
              <a:t>Hector</a:t>
            </a:r>
            <a:r>
              <a:rPr lang="es-MX" altLang="es-MX" dirty="0">
                <a:latin typeface="Arial" panose="020B0604020202020204" pitchFamily="34" charset="0"/>
                <a:ea typeface="Times New Roman" panose="02020603050405020304" pitchFamily="18" charset="0"/>
                <a:cs typeface="Arial" panose="020B0604020202020204" pitchFamily="34" charset="0"/>
              </a:rPr>
              <a:t> </a:t>
            </a:r>
            <a:r>
              <a:rPr lang="es-MX" altLang="es-MX" dirty="0" err="1">
                <a:latin typeface="Arial" panose="020B0604020202020204" pitchFamily="34" charset="0"/>
                <a:ea typeface="Times New Roman" panose="02020603050405020304" pitchFamily="18" charset="0"/>
                <a:cs typeface="Arial" panose="020B0604020202020204" pitchFamily="34" charset="0"/>
              </a:rPr>
              <a:t>Yazid</a:t>
            </a:r>
            <a:r>
              <a:rPr lang="es-MX" altLang="es-MX" dirty="0">
                <a:latin typeface="Arial" panose="020B0604020202020204" pitchFamily="34" charset="0"/>
                <a:ea typeface="Times New Roman" panose="02020603050405020304" pitchFamily="18" charset="0"/>
                <a:cs typeface="Arial" panose="020B0604020202020204" pitchFamily="34" charset="0"/>
              </a:rPr>
              <a:t> </a:t>
            </a:r>
            <a:r>
              <a:rPr lang="es-MX" altLang="es-MX" dirty="0" err="1">
                <a:latin typeface="Arial" panose="020B0604020202020204" pitchFamily="34" charset="0"/>
                <a:ea typeface="Times New Roman" panose="02020603050405020304" pitchFamily="18" charset="0"/>
                <a:cs typeface="Arial" panose="020B0604020202020204" pitchFamily="34" charset="0"/>
              </a:rPr>
              <a:t>Anzueto</a:t>
            </a:r>
            <a:r>
              <a:rPr lang="es-MX" altLang="es-MX" dirty="0">
                <a:latin typeface="Arial" panose="020B0604020202020204" pitchFamily="34" charset="0"/>
                <a:ea typeface="Times New Roman" panose="02020603050405020304" pitchFamily="18" charset="0"/>
                <a:cs typeface="Arial" panose="020B0604020202020204" pitchFamily="34" charset="0"/>
              </a:rPr>
              <a:t> </a:t>
            </a:r>
            <a:r>
              <a:rPr lang="es-MX" altLang="es-MX" dirty="0" err="1">
                <a:latin typeface="Arial" panose="020B0604020202020204" pitchFamily="34" charset="0"/>
                <a:ea typeface="Times New Roman" panose="02020603050405020304" pitchFamily="18" charset="0"/>
                <a:cs typeface="Arial" panose="020B0604020202020204" pitchFamily="34" charset="0"/>
              </a:rPr>
              <a:t>Lopez</a:t>
            </a:r>
            <a:endParaRPr lang="es-MX" altLang="es-MX" sz="900" dirty="0"/>
          </a:p>
          <a:p>
            <a:pPr lvl="0" algn="ctr" defTabSz="914400" eaLnBrk="0" fontAlgn="base" hangingPunct="0">
              <a:spcBef>
                <a:spcPct val="0"/>
              </a:spcBef>
              <a:spcAft>
                <a:spcPct val="0"/>
              </a:spcAft>
            </a:pPr>
            <a:r>
              <a:rPr lang="es-MX" altLang="es-MX" b="1" dirty="0">
                <a:latin typeface="Arial" panose="020B0604020202020204" pitchFamily="34" charset="0"/>
                <a:ea typeface="Times New Roman" panose="02020603050405020304" pitchFamily="18" charset="0"/>
                <a:cs typeface="Arial" panose="020B0604020202020204" pitchFamily="34" charset="0"/>
              </a:rPr>
              <a:t>Nombre del docente:</a:t>
            </a:r>
            <a:endParaRPr lang="es-MX" altLang="es-MX" sz="900" dirty="0"/>
          </a:p>
          <a:p>
            <a:pPr lvl="0" algn="ctr" defTabSz="914400" eaLnBrk="0" fontAlgn="base" hangingPunct="0">
              <a:spcBef>
                <a:spcPct val="0"/>
              </a:spcBef>
              <a:spcAft>
                <a:spcPct val="0"/>
              </a:spcAft>
            </a:pPr>
            <a:r>
              <a:rPr lang="es-MX" altLang="es-MX" dirty="0">
                <a:latin typeface="Arial" panose="020B0604020202020204" pitchFamily="34" charset="0"/>
                <a:ea typeface="Times New Roman" panose="02020603050405020304" pitchFamily="18" charset="0"/>
                <a:cs typeface="Arial" panose="020B0604020202020204" pitchFamily="34" charset="0"/>
              </a:rPr>
              <a:t>Francisco Javier Mingo </a:t>
            </a:r>
            <a:r>
              <a:rPr lang="es-MX" altLang="es-MX" dirty="0" err="1">
                <a:latin typeface="Arial" panose="020B0604020202020204" pitchFamily="34" charset="0"/>
                <a:ea typeface="Times New Roman" panose="02020603050405020304" pitchFamily="18" charset="0"/>
                <a:cs typeface="Arial" panose="020B0604020202020204" pitchFamily="34" charset="0"/>
              </a:rPr>
              <a:t>Velazquez</a:t>
            </a:r>
            <a:endParaRPr lang="es-MX" altLang="es-MX" sz="900" dirty="0"/>
          </a:p>
          <a:p>
            <a:pPr lvl="0" algn="ctr" defTabSz="914400" eaLnBrk="0" fontAlgn="base" hangingPunct="0">
              <a:spcBef>
                <a:spcPct val="0"/>
              </a:spcBef>
              <a:spcAft>
                <a:spcPct val="0"/>
              </a:spcAft>
            </a:pPr>
            <a:r>
              <a:rPr lang="es-MX" altLang="es-MX" b="1" dirty="0">
                <a:latin typeface="Arial" panose="020B0604020202020204" pitchFamily="34" charset="0"/>
                <a:ea typeface="Times New Roman" panose="02020603050405020304" pitchFamily="18" charset="0"/>
                <a:cs typeface="Arial" panose="020B0604020202020204" pitchFamily="34" charset="0"/>
              </a:rPr>
              <a:t>Nombre del trabajo:</a:t>
            </a:r>
            <a:endParaRPr lang="es-MX" altLang="es-MX" sz="900" dirty="0"/>
          </a:p>
          <a:p>
            <a:pPr lvl="0" algn="ctr" defTabSz="914400" eaLnBrk="0" fontAlgn="base" hangingPunct="0">
              <a:spcBef>
                <a:spcPct val="0"/>
              </a:spcBef>
              <a:spcAft>
                <a:spcPct val="0"/>
              </a:spcAft>
            </a:pPr>
            <a:r>
              <a:rPr lang="es-MX" altLang="es-MX" dirty="0">
                <a:latin typeface="Arial" panose="020B0604020202020204" pitchFamily="34" charset="0"/>
                <a:ea typeface="Times New Roman" panose="02020603050405020304" pitchFamily="18" charset="0"/>
                <a:cs typeface="Arial" panose="020B0604020202020204" pitchFamily="34" charset="0"/>
              </a:rPr>
              <a:t>Actividad </a:t>
            </a:r>
            <a:r>
              <a:rPr lang="es-MX" altLang="es-MX" dirty="0" smtClean="0">
                <a:latin typeface="Arial" panose="020B0604020202020204" pitchFamily="34" charset="0"/>
                <a:ea typeface="Times New Roman" panose="02020603050405020304" pitchFamily="18" charset="0"/>
                <a:cs typeface="Arial" panose="020B0604020202020204" pitchFamily="34" charset="0"/>
              </a:rPr>
              <a:t>5.1 </a:t>
            </a:r>
            <a:r>
              <a:rPr lang="es-MX" altLang="es-MX" smtClean="0">
                <a:latin typeface="Arial" panose="020B0604020202020204" pitchFamily="34" charset="0"/>
                <a:ea typeface="Times New Roman" panose="02020603050405020304" pitchFamily="18" charset="0"/>
                <a:cs typeface="Arial" panose="020B0604020202020204" pitchFamily="34" charset="0"/>
              </a:rPr>
              <a:t>mapa conceptual </a:t>
            </a:r>
            <a:endParaRPr lang="es-MX" altLang="es-MX" sz="900" dirty="0"/>
          </a:p>
          <a:p>
            <a:pPr lvl="0" algn="ctr" defTabSz="914400" eaLnBrk="0" fontAlgn="base" hangingPunct="0">
              <a:spcBef>
                <a:spcPct val="0"/>
              </a:spcBef>
              <a:spcAft>
                <a:spcPct val="0"/>
              </a:spcAft>
            </a:pPr>
            <a:r>
              <a:rPr lang="es-MX" altLang="es-MX" b="1" dirty="0">
                <a:latin typeface="Arial" panose="020B0604020202020204" pitchFamily="34" charset="0"/>
                <a:ea typeface="Times New Roman" panose="02020603050405020304" pitchFamily="18" charset="0"/>
                <a:cs typeface="Arial" panose="020B0604020202020204" pitchFamily="34" charset="0"/>
              </a:rPr>
              <a:t>Fecha de entrega:</a:t>
            </a:r>
            <a:endParaRPr lang="es-MX" altLang="es-MX" sz="900" dirty="0"/>
          </a:p>
          <a:p>
            <a:pPr lvl="0" algn="ctr" defTabSz="914400" eaLnBrk="0" fontAlgn="base" hangingPunct="0">
              <a:spcBef>
                <a:spcPct val="0"/>
              </a:spcBef>
              <a:spcAft>
                <a:spcPct val="0"/>
              </a:spcAft>
            </a:pPr>
            <a:r>
              <a:rPr lang="es-MX" altLang="es-MX" dirty="0">
                <a:latin typeface="Arial" panose="020B0604020202020204" pitchFamily="34" charset="0"/>
                <a:ea typeface="Times New Roman" panose="02020603050405020304" pitchFamily="18" charset="0"/>
                <a:cs typeface="Arial" panose="020B0604020202020204" pitchFamily="34" charset="0"/>
              </a:rPr>
              <a:t>Frontera Comalapa, Chiapas a </a:t>
            </a:r>
            <a:r>
              <a:rPr lang="es-MX" altLang="es-MX" dirty="0" smtClean="0">
                <a:latin typeface="Arial" panose="020B0604020202020204" pitchFamily="34" charset="0"/>
                <a:ea typeface="Times New Roman" panose="02020603050405020304" pitchFamily="18" charset="0"/>
                <a:cs typeface="Arial" panose="020B0604020202020204" pitchFamily="34" charset="0"/>
              </a:rPr>
              <a:t>10 </a:t>
            </a:r>
            <a:r>
              <a:rPr lang="es-MX" altLang="es-MX" dirty="0">
                <a:latin typeface="Arial" panose="020B0604020202020204" pitchFamily="34" charset="0"/>
                <a:ea typeface="Times New Roman" panose="02020603050405020304" pitchFamily="18" charset="0"/>
                <a:cs typeface="Arial" panose="020B0604020202020204" pitchFamily="34" charset="0"/>
              </a:rPr>
              <a:t>de junio de 2026</a:t>
            </a:r>
            <a:endParaRPr lang="es-MX" altLang="es-MX" sz="2000" dirty="0">
              <a:latin typeface="Arial" panose="020B0604020202020204" pitchFamily="34" charset="0"/>
            </a:endParaRPr>
          </a:p>
        </p:txBody>
      </p:sp>
      <p:pic>
        <p:nvPicPr>
          <p:cNvPr id="4" name="Imagen 24"/>
          <p:cNvPicPr>
            <a:picLocks noChangeAspect="1" noChangeArrowheads="1"/>
          </p:cNvPicPr>
          <p:nvPr/>
        </p:nvPicPr>
        <p:blipFill>
          <a:blip r:embed="rId2">
            <a:extLst>
              <a:ext uri="{28A0092B-C50C-407E-A947-70E740481C1C}">
                <a14:useLocalDpi xmlns:a14="http://schemas.microsoft.com/office/drawing/2010/main" val="0"/>
              </a:ext>
            </a:extLst>
          </a:blip>
          <a:srcRect l="28514" t="17300" r="29520" b="65802"/>
          <a:stretch>
            <a:fillRect/>
          </a:stretch>
        </p:blipFill>
        <p:spPr bwMode="auto">
          <a:xfrm>
            <a:off x="2288503" y="0"/>
            <a:ext cx="6507163" cy="147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600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Introducción </a:t>
            </a:r>
            <a:endParaRPr lang="es-MX" dirty="0"/>
          </a:p>
        </p:txBody>
      </p:sp>
      <p:sp>
        <p:nvSpPr>
          <p:cNvPr id="3" name="Marcador de contenido 2"/>
          <p:cNvSpPr>
            <a:spLocks noGrp="1"/>
          </p:cNvSpPr>
          <p:nvPr>
            <p:ph idx="1"/>
          </p:nvPr>
        </p:nvSpPr>
        <p:spPr/>
        <p:txBody>
          <a:bodyPr/>
          <a:lstStyle/>
          <a:p>
            <a:pPr algn="just">
              <a:lnSpc>
                <a:spcPct val="150000"/>
              </a:lnSpc>
            </a:pPr>
            <a:r>
              <a:rPr lang="es-MX" dirty="0"/>
              <a:t>El presente mapa conceptual estructura los elementos fundamentales de la programación de dispositivos móviles, partiendo del concepto central “Desarrollo Móvil” hacia sus componentes clave. Se desglosan las plataformas principales Android y iOS, lenguajes nativos como </a:t>
            </a:r>
            <a:r>
              <a:rPr lang="es-MX" dirty="0" err="1"/>
              <a:t>Kotlin</a:t>
            </a:r>
            <a:r>
              <a:rPr lang="es-MX" dirty="0"/>
              <a:t> y Swift, </a:t>
            </a:r>
            <a:r>
              <a:rPr lang="es-MX" dirty="0" err="1"/>
              <a:t>frameworks</a:t>
            </a:r>
            <a:r>
              <a:rPr lang="es-MX" dirty="0"/>
              <a:t> multiplataforma como </a:t>
            </a:r>
            <a:r>
              <a:rPr lang="es-MX" dirty="0" err="1"/>
              <a:t>Flutter</a:t>
            </a:r>
            <a:r>
              <a:rPr lang="es-MX" dirty="0"/>
              <a:t>, </a:t>
            </a:r>
            <a:r>
              <a:rPr lang="es-MX" dirty="0" err="1"/>
              <a:t>React</a:t>
            </a:r>
            <a:r>
              <a:rPr lang="es-MX" dirty="0"/>
              <a:t> </a:t>
            </a:r>
            <a:r>
              <a:rPr lang="es-MX" dirty="0" err="1"/>
              <a:t>Native</a:t>
            </a:r>
            <a:r>
              <a:rPr lang="es-MX" dirty="0"/>
              <a:t> y .NET MAUI, y conceptos esenciales como ciclo de vida de la app, diseño de interfaces con Material </a:t>
            </a:r>
            <a:r>
              <a:rPr lang="es-MX" dirty="0" err="1"/>
              <a:t>Design</a:t>
            </a:r>
            <a:r>
              <a:rPr lang="es-MX" dirty="0"/>
              <a:t> y Human Interface </a:t>
            </a:r>
            <a:r>
              <a:rPr lang="es-MX" dirty="0" err="1"/>
              <a:t>Guidelines</a:t>
            </a:r>
            <a:r>
              <a:rPr lang="es-MX" dirty="0"/>
              <a:t>, manejo de sensores, geolocalización, persistencia de datos con </a:t>
            </a:r>
            <a:r>
              <a:rPr lang="es-MX" dirty="0" err="1"/>
              <a:t>SQLite</a:t>
            </a:r>
            <a:r>
              <a:rPr lang="es-MX" dirty="0"/>
              <a:t> y </a:t>
            </a:r>
            <a:r>
              <a:rPr lang="es-MX" dirty="0" err="1"/>
              <a:t>Room</a:t>
            </a:r>
            <a:r>
              <a:rPr lang="es-MX" dirty="0"/>
              <a:t>, consumo de </a:t>
            </a:r>
            <a:r>
              <a:rPr lang="es-MX" dirty="0" err="1"/>
              <a:t>APIs</a:t>
            </a:r>
            <a:r>
              <a:rPr lang="es-MX" dirty="0"/>
              <a:t> REST, notificaciones </a:t>
            </a:r>
            <a:r>
              <a:rPr lang="es-MX" dirty="0" err="1"/>
              <a:t>push</a:t>
            </a:r>
            <a:r>
              <a:rPr lang="es-MX" dirty="0"/>
              <a:t> y publicación en Play Store y App Store. </a:t>
            </a:r>
          </a:p>
        </p:txBody>
      </p:sp>
    </p:spTree>
    <p:extLst>
      <p:ext uri="{BB962C8B-B14F-4D97-AF65-F5344CB8AC3E}">
        <p14:creationId xmlns:p14="http://schemas.microsoft.com/office/powerpoint/2010/main" val="2111980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Justificación </a:t>
            </a:r>
            <a:endParaRPr lang="es-MX" dirty="0"/>
          </a:p>
        </p:txBody>
      </p:sp>
      <p:sp>
        <p:nvSpPr>
          <p:cNvPr id="3" name="Marcador de contenido 2"/>
          <p:cNvSpPr>
            <a:spLocks noGrp="1"/>
          </p:cNvSpPr>
          <p:nvPr>
            <p:ph idx="1"/>
          </p:nvPr>
        </p:nvSpPr>
        <p:spPr/>
        <p:txBody>
          <a:bodyPr>
            <a:normAutofit fontScale="85000" lnSpcReduction="10000"/>
          </a:bodyPr>
          <a:lstStyle/>
          <a:p>
            <a:pPr algn="just">
              <a:lnSpc>
                <a:spcPct val="160000"/>
              </a:lnSpc>
            </a:pPr>
            <a:r>
              <a:rPr lang="es-MX" dirty="0" smtClean="0"/>
              <a:t>Programar </a:t>
            </a:r>
            <a:r>
              <a:rPr lang="es-MX" dirty="0"/>
              <a:t>para móvil ya no es opcional: el 70% del tráfico de internet viene de celulares. Este mapa conceptual se justifica porque primero, el desarrollo móvil tiene reglas propias. No es web chiquita. Hay que manejar batería, memoria limitada, pérdida de conexión, ciclo de vida de </a:t>
            </a:r>
            <a:r>
              <a:rPr lang="es-MX" dirty="0" err="1"/>
              <a:t>Activities</a:t>
            </a:r>
            <a:r>
              <a:rPr lang="es-MX" dirty="0"/>
              <a:t>/</a:t>
            </a:r>
            <a:r>
              <a:rPr lang="es-MX" dirty="0" err="1"/>
              <a:t>Fragments</a:t>
            </a:r>
            <a:r>
              <a:rPr lang="es-MX" dirty="0"/>
              <a:t> y permisos que el usuario puede revocar. Segundo, el ecosistema está fragmentado. Nativo vs multiplataforma, tiendas con políticas distintas, versiones de Android y iOS que cambian cada año. Sin un mapa que organice, el alumno se pierde entre tanto </a:t>
            </a:r>
            <a:r>
              <a:rPr lang="es-MX" dirty="0" err="1"/>
              <a:t>framework</a:t>
            </a:r>
            <a:r>
              <a:rPr lang="es-MX" dirty="0"/>
              <a:t> y termina copiando código sin entender qué problema resuelve. Tercero, en campo laboral te piden apps que usen cámara, GPS, notificaciones y funcionen offline. Todo eso debe estar conectado. El mapa mental obliga a ver el panorama completo: desde elegir la arquitectura hasta firmar el APK y subirlo a producción. Sin esta visión, se construyen apps que no pasan la revisión de la tienda o </a:t>
            </a:r>
            <a:r>
              <a:rPr lang="es-MX" dirty="0" err="1"/>
              <a:t>crashean</a:t>
            </a:r>
            <a:r>
              <a:rPr lang="es-MX" dirty="0"/>
              <a:t> en el primer cambio de red.</a:t>
            </a:r>
          </a:p>
        </p:txBody>
      </p:sp>
    </p:spTree>
    <p:extLst>
      <p:ext uri="{BB962C8B-B14F-4D97-AF65-F5344CB8AC3E}">
        <p14:creationId xmlns:p14="http://schemas.microsoft.com/office/powerpoint/2010/main" val="3810496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256477" cy="6894268"/>
          </a:xfrm>
          <a:prstGeom prst="rect">
            <a:avLst/>
          </a:prstGeom>
        </p:spPr>
      </p:pic>
    </p:spTree>
    <p:extLst>
      <p:ext uri="{BB962C8B-B14F-4D97-AF65-F5344CB8AC3E}">
        <p14:creationId xmlns:p14="http://schemas.microsoft.com/office/powerpoint/2010/main" val="2336675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Conclusión</a:t>
            </a:r>
          </a:p>
        </p:txBody>
      </p:sp>
      <p:sp>
        <p:nvSpPr>
          <p:cNvPr id="3" name="Marcador de contenido 2"/>
          <p:cNvSpPr>
            <a:spLocks noGrp="1"/>
          </p:cNvSpPr>
          <p:nvPr>
            <p:ph idx="1"/>
          </p:nvPr>
        </p:nvSpPr>
        <p:spPr/>
        <p:txBody>
          <a:bodyPr/>
          <a:lstStyle/>
          <a:p>
            <a:r>
              <a:rPr lang="es-MX" dirty="0" smtClean="0"/>
              <a:t>La </a:t>
            </a:r>
            <a:r>
              <a:rPr lang="es-MX" dirty="0"/>
              <a:t>elaboración de este mapa conceptual permitió identificar y relacionar todos los pilares que sostienen la programación de dispositivos móviles. Queda claro que desarrollar una app va más allá de diseñar pantallas: implica decidir entre nativo y multiplataforma, gestionar correctamente el ciclo de vida, optimizar recursos, manejar datos locales y remotos, asegurar la app con permisos y buenas prácticas, y cumplir los lineamientos de publicación. </a:t>
            </a:r>
          </a:p>
        </p:txBody>
      </p:sp>
    </p:spTree>
    <p:extLst>
      <p:ext uri="{BB962C8B-B14F-4D97-AF65-F5344CB8AC3E}">
        <p14:creationId xmlns:p14="http://schemas.microsoft.com/office/powerpoint/2010/main" val="1468730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Fuentes de </a:t>
            </a:r>
            <a:r>
              <a:rPr lang="es-MX" dirty="0" err="1" smtClean="0"/>
              <a:t>informacion</a:t>
            </a:r>
            <a:endParaRPr lang="es-MX" dirty="0"/>
          </a:p>
        </p:txBody>
      </p:sp>
      <p:sp>
        <p:nvSpPr>
          <p:cNvPr id="3" name="Marcador de contenido 2"/>
          <p:cNvSpPr>
            <a:spLocks noGrp="1"/>
          </p:cNvSpPr>
          <p:nvPr>
            <p:ph idx="1"/>
          </p:nvPr>
        </p:nvSpPr>
        <p:spPr/>
        <p:txBody>
          <a:bodyPr/>
          <a:lstStyle/>
          <a:p>
            <a:pPr marL="0" indent="0">
              <a:buNone/>
            </a:pPr>
            <a:endParaRPr lang="es-MX" dirty="0"/>
          </a:p>
          <a:p>
            <a:r>
              <a:rPr lang="es-MX" dirty="0" err="1"/>
              <a:t>Brutti</a:t>
            </a:r>
            <a:r>
              <a:rPr lang="es-MX" dirty="0"/>
              <a:t>, F. (2023, marzo 3). Desarrollo de aplicaciones móviles: qué es, tipos, características y procesos. </a:t>
            </a:r>
            <a:r>
              <a:rPr lang="es-MX" i="1" dirty="0" err="1"/>
              <a:t>Thepower.education</a:t>
            </a:r>
            <a:r>
              <a:rPr lang="es-MX" dirty="0"/>
              <a:t>. https://thepower.education/blog/tech/desarrollo-de-aplicaciones-moviles</a:t>
            </a:r>
          </a:p>
          <a:p>
            <a:r>
              <a:rPr lang="es-MX" dirty="0"/>
              <a:t>Cabezas, A. P. (2025, agosto 28). </a:t>
            </a:r>
            <a:r>
              <a:rPr lang="es-MX" i="1" dirty="0"/>
              <a:t>¿Cuáles son los tipos de aplicaciones móviles? - 480 </a:t>
            </a:r>
            <a:r>
              <a:rPr lang="es-MX" i="1" dirty="0" err="1"/>
              <a:t>Cuatroochenta</a:t>
            </a:r>
            <a:r>
              <a:rPr lang="es-MX" dirty="0"/>
              <a:t>. 480. https://cuatroochenta.com/cuales-son-los-tipos-de-aplicaciones/</a:t>
            </a:r>
          </a:p>
          <a:p>
            <a:r>
              <a:rPr lang="es-MX" i="1" dirty="0"/>
              <a:t>Desarrollo de aplicaciones móviles – Tecnologías de Información y Comunicación</a:t>
            </a:r>
            <a:r>
              <a:rPr lang="es-MX" dirty="0"/>
              <a:t>. (s/f). Www.uv.mx. Recuperado el 13 de junio de 2026, de https://www.uv.mx/dgti/notasdeti-dgti/desarrollo-de-aplicaciones-moviles/</a:t>
            </a:r>
          </a:p>
        </p:txBody>
      </p:sp>
    </p:spTree>
    <p:extLst>
      <p:ext uri="{BB962C8B-B14F-4D97-AF65-F5344CB8AC3E}">
        <p14:creationId xmlns:p14="http://schemas.microsoft.com/office/powerpoint/2010/main" val="676212702"/>
      </p:ext>
    </p:extLst>
  </p:cSld>
  <p:clrMapOvr>
    <a:masterClrMapping/>
  </p:clrMapOvr>
</p:sld>
</file>

<file path=ppt/theme/theme1.xml><?xml version="1.0" encoding="utf-8"?>
<a:theme xmlns:a="http://schemas.openxmlformats.org/drawingml/2006/main" name="Faceta">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TotalTime>
  <Words>461</Words>
  <Application>Microsoft Office PowerPoint</Application>
  <PresentationFormat>Panorámica</PresentationFormat>
  <Paragraphs>29</Paragraphs>
  <Slides>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Arial</vt:lpstr>
      <vt:lpstr>Times New Roman</vt:lpstr>
      <vt:lpstr>Trebuchet MS</vt:lpstr>
      <vt:lpstr>Wingdings 3</vt:lpstr>
      <vt:lpstr>Faceta</vt:lpstr>
      <vt:lpstr>Presentación de PowerPoint</vt:lpstr>
      <vt:lpstr>Introducción </vt:lpstr>
      <vt:lpstr>Justificación </vt:lpstr>
      <vt:lpstr>Presentación de PowerPoint</vt:lpstr>
      <vt:lpstr>Conclusión</vt:lpstr>
      <vt:lpstr>Fuentes de informacion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 AMD</dc:creator>
  <cp:lastModifiedBy>HP AMD</cp:lastModifiedBy>
  <cp:revision>1</cp:revision>
  <dcterms:created xsi:type="dcterms:W3CDTF">2026-06-13T04:33:22Z</dcterms:created>
  <dcterms:modified xsi:type="dcterms:W3CDTF">2026-06-13T04:40:22Z</dcterms:modified>
</cp:coreProperties>
</file>